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052655-C258-47D9-BFA6-8B705B56FF11}" v="4" dt="2026-09-08T15:09:18.2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51" d="100"/>
          <a:sy n="51" d="100"/>
        </p:scale>
        <p:origin x="1232" y="88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veen Kumar" userId="84af3644a48eddab" providerId="LiveId" clId="{5FD444CA-F92C-4B88-8BEA-E8259DB12F47}"/>
    <pc:docChg chg="undo redo custSel modSld">
      <pc:chgData name="Praveen Kumar" userId="84af3644a48eddab" providerId="LiveId" clId="{5FD444CA-F92C-4B88-8BEA-E8259DB12F47}" dt="2026-09-08T15:09:23.504" v="44" actId="255"/>
      <pc:docMkLst>
        <pc:docMk/>
      </pc:docMkLst>
      <pc:sldChg chg="addSp delSp modSp mod">
        <pc:chgData name="Praveen Kumar" userId="84af3644a48eddab" providerId="LiveId" clId="{5FD444CA-F92C-4B88-8BEA-E8259DB12F47}" dt="2026-09-08T15:08:00.375" v="28" actId="20577"/>
        <pc:sldMkLst>
          <pc:docMk/>
          <pc:sldMk cId="0" sldId="258"/>
        </pc:sldMkLst>
        <pc:spChg chg="mod">
          <ac:chgData name="Praveen Kumar" userId="84af3644a48eddab" providerId="LiveId" clId="{5FD444CA-F92C-4B88-8BEA-E8259DB12F47}" dt="2026-09-08T15:08:00.375" v="28" actId="20577"/>
          <ac:spMkLst>
            <pc:docMk/>
            <pc:sldMk cId="0" sldId="258"/>
            <ac:spMk id="1048601" creationId="{00000000-0000-0000-0000-000000000000}"/>
          </ac:spMkLst>
        </pc:spChg>
        <pc:inkChg chg="add del">
          <ac:chgData name="Praveen Kumar" userId="84af3644a48eddab" providerId="LiveId" clId="{5FD444CA-F92C-4B88-8BEA-E8259DB12F47}" dt="2026-09-08T15:05:59.292" v="1" actId="9405"/>
          <ac:inkMkLst>
            <pc:docMk/>
            <pc:sldMk cId="0" sldId="258"/>
            <ac:inkMk id="4" creationId="{3A5D9BAD-3245-05B8-68F8-18A65300B9DE}"/>
          </ac:inkMkLst>
        </pc:inkChg>
      </pc:sldChg>
      <pc:sldChg chg="modSp mod">
        <pc:chgData name="Praveen Kumar" userId="84af3644a48eddab" providerId="LiveId" clId="{5FD444CA-F92C-4B88-8BEA-E8259DB12F47}" dt="2026-09-08T15:08:43.576" v="38" actId="20577"/>
        <pc:sldMkLst>
          <pc:docMk/>
          <pc:sldMk cId="0" sldId="259"/>
        </pc:sldMkLst>
        <pc:spChg chg="mod">
          <ac:chgData name="Praveen Kumar" userId="84af3644a48eddab" providerId="LiveId" clId="{5FD444CA-F92C-4B88-8BEA-E8259DB12F47}" dt="2026-09-08T15:08:43.576" v="38" actId="20577"/>
          <ac:spMkLst>
            <pc:docMk/>
            <pc:sldMk cId="0" sldId="259"/>
            <ac:spMk id="1048610" creationId="{00000000-0000-0000-0000-000000000000}"/>
          </ac:spMkLst>
        </pc:spChg>
      </pc:sldChg>
      <pc:sldChg chg="modSp mod">
        <pc:chgData name="Praveen Kumar" userId="84af3644a48eddab" providerId="LiveId" clId="{5FD444CA-F92C-4B88-8BEA-E8259DB12F47}" dt="2026-09-08T15:08:58.161" v="40" actId="255"/>
        <pc:sldMkLst>
          <pc:docMk/>
          <pc:sldMk cId="0" sldId="260"/>
        </pc:sldMkLst>
        <pc:spChg chg="mod">
          <ac:chgData name="Praveen Kumar" userId="84af3644a48eddab" providerId="LiveId" clId="{5FD444CA-F92C-4B88-8BEA-E8259DB12F47}" dt="2026-09-08T15:08:58.161" v="40" actId="255"/>
          <ac:spMkLst>
            <pc:docMk/>
            <pc:sldMk cId="0" sldId="260"/>
            <ac:spMk id="1048619" creationId="{00000000-0000-0000-0000-000000000000}"/>
          </ac:spMkLst>
        </pc:spChg>
      </pc:sldChg>
      <pc:sldChg chg="modSp mod">
        <pc:chgData name="Praveen Kumar" userId="84af3644a48eddab" providerId="LiveId" clId="{5FD444CA-F92C-4B88-8BEA-E8259DB12F47}" dt="2026-09-08T15:09:10.318" v="42" actId="255"/>
        <pc:sldMkLst>
          <pc:docMk/>
          <pc:sldMk cId="0" sldId="261"/>
        </pc:sldMkLst>
        <pc:spChg chg="mod">
          <ac:chgData name="Praveen Kumar" userId="84af3644a48eddab" providerId="LiveId" clId="{5FD444CA-F92C-4B88-8BEA-E8259DB12F47}" dt="2026-09-08T15:09:10.318" v="42" actId="255"/>
          <ac:spMkLst>
            <pc:docMk/>
            <pc:sldMk cId="0" sldId="261"/>
            <ac:spMk id="1048628" creationId="{00000000-0000-0000-0000-000000000000}"/>
          </ac:spMkLst>
        </pc:spChg>
      </pc:sldChg>
      <pc:sldChg chg="modSp mod">
        <pc:chgData name="Praveen Kumar" userId="84af3644a48eddab" providerId="LiveId" clId="{5FD444CA-F92C-4B88-8BEA-E8259DB12F47}" dt="2026-09-08T15:09:23.504" v="44" actId="255"/>
        <pc:sldMkLst>
          <pc:docMk/>
          <pc:sldMk cId="0" sldId="262"/>
        </pc:sldMkLst>
        <pc:spChg chg="mod">
          <ac:chgData name="Praveen Kumar" userId="84af3644a48eddab" providerId="LiveId" clId="{5FD444CA-F92C-4B88-8BEA-E8259DB12F47}" dt="2026-09-08T15:09:23.504" v="44" actId="255"/>
          <ac:spMkLst>
            <pc:docMk/>
            <pc:sldMk cId="0" sldId="262"/>
            <ac:spMk id="1048637" creationId="{00000000-0000-0000-0000-000000000000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08T15:04:04.36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212 337,'20'7,"-5"0,13-1,0-1,1-2,-1 0,37-2,-36-2,-1 2,1 1,0 1,34 9,66 33,-82-27,13 0,10 3,-61-17,10 4,-1-1,1 0,37 7,-41-15,-15 1,0 0,0 0,0 0,0 0,1 0,-1 0,0 0,0 0,0-1,0 1,0 0,0 0,0 0,0 0,1 0,-1 0,0 0,0-1,0 1,0 0,0 0,0 0,0 0,0 0,0-1,0 1,0 0,0 0,0 0,0 0,0 0,0-1,0 1,0 0,0 0,0 0,0 0,0 0,0-1,0 1,-1 0,-16-16,-17-5,-52-37,69 46,0 1,-1 0,0 2,-1 0,0 1,-1 1,1 0,-1 2,0 0,-1 1,-29-1,-165-18,182 17,1-1,0-2,0-1,-43-21,24 8,-1 2,-62-15,99 30,16 6,-1 0,0 0,0 0,0 0,0 0,0 0,0 0,0 0,0 0,0 0,0 0,0 0,0 0,0 0,1 0,-1 0,0 0,0 0,0 0,0 0,0 0,0 0,0 0,0 0,0 0,0 0,0 0,0 0,0 0,0 0,0 0,0-1,1 1,-1 0,0 0,0 0,0 0,0 0,0 0,0 0,0 0,0 0,0 0,0 0,0 0,0 0,0-1,0 1,0 0,0 0,0 0,0 0,0 0,0 0,-1 0,1 0,0 0,0 0,0 0,0 0,0 0,0 0,0-1,0 1,0 0,0 0,0 0,0 0,26-1,514 7,-526-6,-1 0,1-1,-1 0,0-1,0 0,14-5,-25 7,0-1,0 0,-1 0,1 1,0-1,-1 0,1 0,-1-1,1 1,-1 0,1 0,-1-1,0 1,0-1,2-1,-3 2,0 0,1 0,-1 0,0 0,0 0,0 0,0 1,0-1,0 0,0 0,0 0,0 0,0 0,-1 0,1 0,0 0,0 1,-1-1,1 0,-1 0,1 0,-1 0,-2-2,0-1,0 1,-1 0,1 1,-1-1,1 1,-1-1,0 1,0 0,1 1,-6-2,-69-26,-27-9,59 25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9-08T15:04:05.48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0,'0'6,"0"8,0 13,0 14,0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04:34.93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458 640 24575,'2'-167'0,"-5"-187"0,3 349 0,0 0 0,-1-1 0,0 1 0,0 0 0,0 0 0,0 0 0,-1 0 0,0 1 0,0-1 0,0 0 0,0 1 0,-1-1 0,0 1 0,-4-6 0,3 6 0,-1 1 0,1 0 0,-1-1 0,1 2 0,-1-1 0,0 0 0,0 1 0,0 0 0,0 0 0,0 0 0,-1 1 0,1 0 0,-8-1 0,-11-1 0,-1 1 0,0 1 0,0 1 0,-40 5 0,56-3 0,1 0 0,0 0 0,0 1 0,0 0 0,0 1 0,1 0 0,-1 0 0,1 0 0,0 1 0,0 0 0,1 0 0,0 1 0,-1 0 0,2 0 0,-1 0 0,1 1 0,0 0 0,-5 9 0,2-2 0,1 0 0,0 1 0,1 1 0,0-1 0,1 1 0,1 0 0,1 0 0,-2 23 0,3-21 0,2 1 0,0 0 0,1-1 0,3 22 0,-2-31 0,0-1 0,0 0 0,0 0 0,1 0 0,1-1 0,-1 1 0,1-1 0,0 0 0,1 1 0,-1-2 0,11 12 0,0-5 0,1 0 0,0-1 0,1-1 0,0-1 0,36 16 0,-9-4 0,-37-17 0,0 0 0,-1 0 0,1 0 0,-1 1 0,0 0 0,0 0 0,-1 0 0,0 1 0,0 0 0,5 10 0,6 12 0,15 38 0,-30-64 0,14 37-273,-1 1 0,-3 0 0,-1 0 0,7 68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04:56.89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70 8770 24221,'0'-8769'0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9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048700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t>9/8/2026</a:t>
            </a:fld>
            <a:endParaRPr lang="en-US"/>
          </a:p>
        </p:txBody>
      </p:sp>
      <p:sp>
        <p:nvSpPr>
          <p:cNvPr id="1048701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1048702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48703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048704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4860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04860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1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48612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048613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0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48621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048622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9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48630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048631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8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4863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048640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48582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4858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792E3-D524-454C-8AFD-A91972900BCB}" type="datetime1">
              <a:rPr lang="en-US" smtClean="0"/>
              <a:t>9/8/2026</a:t>
            </a:fld>
            <a:endParaRPr lang="en-US"/>
          </a:p>
        </p:txBody>
      </p:sp>
      <p:sp>
        <p:nvSpPr>
          <p:cNvPr id="104858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@SIH Idea submission- Template</a:t>
            </a:r>
          </a:p>
        </p:txBody>
      </p:sp>
      <p:sp>
        <p:nvSpPr>
          <p:cNvPr id="104858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7E1BAA-A38D-40DE-B22C-DF9BD7D8205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4859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59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B7524-32A2-4C20-A58C-BC3BAA1042FC}" type="datetime1">
              <a:rPr lang="en-US" smtClean="0"/>
              <a:t>9/8/2026</a:t>
            </a:fld>
            <a:endParaRPr lang="en-US"/>
          </a:p>
        </p:txBody>
      </p:sp>
      <p:sp>
        <p:nvSpPr>
          <p:cNvPr id="104859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@SIH Idea submission- Template</a:t>
            </a:r>
          </a:p>
        </p:txBody>
      </p:sp>
      <p:sp>
        <p:nvSpPr>
          <p:cNvPr id="104859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71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48672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4867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994447-D6B2-43BB-A877-57F1A267B999}" type="datetime1">
              <a:rPr lang="en-US" smtClean="0"/>
              <a:t>9/8/2026</a:t>
            </a:fld>
            <a:endParaRPr lang="en-US"/>
          </a:p>
        </p:txBody>
      </p:sp>
      <p:sp>
        <p:nvSpPr>
          <p:cNvPr id="104867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@SIH Idea submission- Template</a:t>
            </a:r>
          </a:p>
        </p:txBody>
      </p:sp>
      <p:sp>
        <p:nvSpPr>
          <p:cNvPr id="104867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DB31D2-2A87-4F4C-A9AD-05C6CC2B321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7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48677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78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79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20E16-BD35-483C-AA6B-346FC7E46DEA}" type="datetime1">
              <a:rPr lang="en-US" smtClean="0"/>
              <a:t>9/8/2026</a:t>
            </a:fld>
            <a:endParaRPr lang="en-US"/>
          </a:p>
        </p:txBody>
      </p:sp>
      <p:sp>
        <p:nvSpPr>
          <p:cNvPr id="1048680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@SIH Idea submission- Template</a:t>
            </a:r>
          </a:p>
        </p:txBody>
      </p:sp>
      <p:sp>
        <p:nvSpPr>
          <p:cNvPr id="1048681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C16D9-1635-4844-816A-0A8A2160FAD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8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4868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4868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8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4868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8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EAC6F8-5103-4FC0-A69E-5C6AE6469DA8}" type="datetime1">
              <a:rPr lang="en-US" smtClean="0"/>
              <a:t>9/8/2026</a:t>
            </a:fld>
            <a:endParaRPr lang="en-US"/>
          </a:p>
        </p:txBody>
      </p:sp>
      <p:sp>
        <p:nvSpPr>
          <p:cNvPr id="104868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@SIH Idea submission- Template</a:t>
            </a:r>
          </a:p>
        </p:txBody>
      </p:sp>
      <p:sp>
        <p:nvSpPr>
          <p:cNvPr id="104868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C4100A-98DE-4944-910A-A93F5CA9F72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4865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C6921-0627-4C8F-83D5-0CF936D2FFDD}" type="datetime1">
              <a:rPr lang="en-US" smtClean="0"/>
              <a:t>9/8/2026</a:t>
            </a:fld>
            <a:endParaRPr lang="en-US"/>
          </a:p>
        </p:txBody>
      </p:sp>
      <p:sp>
        <p:nvSpPr>
          <p:cNvPr id="104865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@SIH Idea submission- Template</a:t>
            </a:r>
          </a:p>
        </p:txBody>
      </p:sp>
      <p:sp>
        <p:nvSpPr>
          <p:cNvPr id="104865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3342B-5A73-45DC-864D-086DE78037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0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08AD7-8103-40F8-983C-E2BA6BB9CBE0}" type="datetime1">
              <a:rPr lang="en-US" smtClean="0"/>
              <a:t>9/8/2026</a:t>
            </a:fld>
            <a:endParaRPr lang="en-US"/>
          </a:p>
        </p:txBody>
      </p:sp>
      <p:sp>
        <p:nvSpPr>
          <p:cNvPr id="1048691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@SIH Idea submission- Template</a:t>
            </a:r>
          </a:p>
        </p:txBody>
      </p:sp>
      <p:sp>
        <p:nvSpPr>
          <p:cNvPr id="1048692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5AFB3-1ACD-44AC-8702-86B1729DF03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3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48694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95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4869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C06B4-9380-4A4D-AF49-A3596E17DAF5}" type="datetime1">
              <a:rPr lang="en-US" smtClean="0"/>
              <a:t>9/8/2026</a:t>
            </a:fld>
            <a:endParaRPr lang="en-US"/>
          </a:p>
        </p:txBody>
      </p:sp>
      <p:sp>
        <p:nvSpPr>
          <p:cNvPr id="104869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@SIH Idea submission- Template</a:t>
            </a:r>
          </a:p>
        </p:txBody>
      </p:sp>
      <p:sp>
        <p:nvSpPr>
          <p:cNvPr id="104869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F15F3-5E77-4C57-9E21-50D6D1D6C02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0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48661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1048662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4866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FDEF1-C582-4E22-9E77-D68326471F28}" type="datetime1">
              <a:rPr lang="en-US" smtClean="0"/>
              <a:t>9/8/2026</a:t>
            </a:fld>
            <a:endParaRPr lang="en-US"/>
          </a:p>
        </p:txBody>
      </p:sp>
      <p:sp>
        <p:nvSpPr>
          <p:cNvPr id="104866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@SIH Idea submission- Template</a:t>
            </a:r>
          </a:p>
        </p:txBody>
      </p:sp>
      <p:sp>
        <p:nvSpPr>
          <p:cNvPr id="104866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2169A-B3C7-4FB6-967F-AF95F4EB33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48667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68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C3A68-6922-42D3-8905-ECC2D82A3469}" type="datetime1">
              <a:rPr lang="en-US" smtClean="0"/>
              <a:t>9/8/2026</a:t>
            </a:fld>
            <a:endParaRPr lang="en-US"/>
          </a:p>
        </p:txBody>
      </p:sp>
      <p:sp>
        <p:nvSpPr>
          <p:cNvPr id="104866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@SIH Idea submission- Template</a:t>
            </a:r>
          </a:p>
        </p:txBody>
      </p:sp>
      <p:sp>
        <p:nvSpPr>
          <p:cNvPr id="104867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DD027-5576-4F27-AAB6-1D994836EE7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5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48656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5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9E9F4-7604-4950-A8B2-8ACDEDB1506E}" type="datetime1">
              <a:rPr lang="en-US" smtClean="0"/>
              <a:t>9/8/2026</a:t>
            </a:fld>
            <a:endParaRPr lang="en-US"/>
          </a:p>
        </p:txBody>
      </p:sp>
      <p:sp>
        <p:nvSpPr>
          <p:cNvPr id="104865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@SIH Idea submission- Template</a:t>
            </a:r>
          </a:p>
        </p:txBody>
      </p:sp>
      <p:sp>
        <p:nvSpPr>
          <p:cNvPr id="104865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7CE61-8714-431B-A40A-01B1C5541AB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4857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578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9/8/2026</a:t>
            </a:fld>
            <a:endParaRPr lang="en-US"/>
          </a:p>
        </p:txBody>
      </p:sp>
      <p:sp>
        <p:nvSpPr>
          <p:cNvPr id="104857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r>
              <a:rPr lang="en-US"/>
              <a:t>@SIH Idea submission- Template</a:t>
            </a:r>
          </a:p>
        </p:txBody>
      </p:sp>
      <p:sp>
        <p:nvSpPr>
          <p:cNvPr id="1048580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customXml" Target="../ink/ink2.xml"/><Relationship Id="rId12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customXml" Target="../ink/ink4.xml"/><Relationship Id="rId5" Type="http://schemas.openxmlformats.org/officeDocument/2006/relationships/customXml" Target="../ink/ink1.xml"/><Relationship Id="rId10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openxmlformats.org/officeDocument/2006/relationships/customXml" Target="../ink/ink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8586" name="Rectangle 24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8587" name="Freeform: Shape 26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2097152" name="Picture 4"/>
          <p:cNvPicPr>
            <a:picLocks noChangeAspect="1"/>
          </p:cNvPicPr>
          <p:nvPr/>
        </p:nvPicPr>
        <p:blipFill rotWithShape="1">
          <a:blip r:embed="rId2"/>
          <a:srcRect r="59916"/>
          <a:stretch>
            <a:fillRect/>
          </a:stretch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1048588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8589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2025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48590" name="TextBox 9"/>
          <p:cNvSpPr txBox="1"/>
          <p:nvPr/>
        </p:nvSpPr>
        <p:spPr>
          <a:xfrm>
            <a:off x="331286" y="1332072"/>
            <a:ext cx="10615028" cy="5425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: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WheatherGPT:Conversational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AI for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Wheather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Forecasting,Alerts,and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Climate Information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Disaster Management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97153" name="Picture 2" descr="https://www.sih.gov.in/img1/SIH-Logo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810DFC7-6A27-142D-13F9-884122F514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01" y="6296"/>
            <a:ext cx="12391691" cy="6982269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D2C5BBC-B0A0-42A7-3478-95B6980525E3}"/>
                  </a:ext>
                </a:extLst>
              </p14:cNvPr>
              <p14:cNvContentPartPr/>
              <p14:nvPr/>
            </p14:nvContentPartPr>
            <p14:xfrm>
              <a:off x="11322464" y="6429674"/>
              <a:ext cx="377280" cy="1900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D2C5BBC-B0A0-42A7-3478-95B6980525E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232464" y="6249674"/>
                <a:ext cx="556920" cy="54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38D1146-BCBA-4DD5-220E-8989E03D2EF2}"/>
                  </a:ext>
                </a:extLst>
              </p14:cNvPr>
              <p14:cNvContentPartPr/>
              <p14:nvPr/>
            </p14:nvContentPartPr>
            <p14:xfrm>
              <a:off x="11448464" y="6425714"/>
              <a:ext cx="360" cy="468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38D1146-BCBA-4DD5-220E-8989E03D2EF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1358824" y="6245714"/>
                <a:ext cx="180000" cy="40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732E995-78E0-364A-53E5-58EFD0B4FE7F}"/>
                  </a:ext>
                </a:extLst>
              </p14:cNvPr>
              <p14:cNvContentPartPr/>
              <p14:nvPr/>
            </p14:nvContentPartPr>
            <p14:xfrm>
              <a:off x="11333984" y="6383234"/>
              <a:ext cx="165600" cy="3718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732E995-78E0-364A-53E5-58EFD0B4FE7F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271344" y="6320594"/>
                <a:ext cx="291240" cy="49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89A91A9D-D9D6-2982-20C9-23C435CE1954}"/>
                  </a:ext>
                </a:extLst>
              </p14:cNvPr>
              <p14:cNvContentPartPr/>
              <p14:nvPr/>
            </p14:nvContentPartPr>
            <p14:xfrm>
              <a:off x="11886944" y="3769634"/>
              <a:ext cx="720" cy="31572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89A91A9D-D9D6-2982-20C9-23C435CE1954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1760944" y="3706994"/>
                <a:ext cx="252000" cy="3282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6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048597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048598" name="TextBox 8"/>
          <p:cNvSpPr txBox="1">
            <a:spLocks noChangeArrowheads="1"/>
          </p:cNvSpPr>
          <p:nvPr/>
        </p:nvSpPr>
        <p:spPr bwMode="auto">
          <a:xfrm>
            <a:off x="603115" y="1856055"/>
            <a:ext cx="6461074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000" b="1" dirty="0" err="1"/>
              <a:t>ClimateChat</a:t>
            </a:r>
            <a:r>
              <a:rPr lang="en-US" sz="2000" b="1" dirty="0"/>
              <a:t> – </a:t>
            </a:r>
            <a:r>
              <a:rPr lang="en-US" sz="2000" dirty="0"/>
              <a:t>Conversational AI for Intelligent Weather Forecasting, Alerts &amp; Climate Awareness</a:t>
            </a:r>
          </a:p>
          <a:p>
            <a:endParaRPr lang="en-US" sz="2000" dirty="0"/>
          </a:p>
          <a:p>
            <a:r>
              <a:rPr lang="en-US" sz="2000" b="1" dirty="0"/>
              <a:t>Concept: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 err="1"/>
              <a:t>ClimateChat</a:t>
            </a:r>
            <a:r>
              <a:rPr lang="en-US" sz="2000" dirty="0"/>
              <a:t> is an AI-powered conversational weather and climate assistant that allows users to interact with weather information using natural language. 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It combines real-time weather data, location intelligence.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AI-based query understanding, weather alerts, and simplified climate information to provide fast, understandable, and actionable responses.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4859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48600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48601" name="Oval 9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BWC@</a:t>
            </a:r>
            <a:r>
              <a:rPr lang="en-IN" sz="1400" dirty="0"/>
              <a:t>COGNIXA</a:t>
            </a:r>
          </a:p>
        </p:txBody>
      </p:sp>
      <p:pic>
        <p:nvPicPr>
          <p:cNvPr id="2097154" name="Picture 2" descr="https://www.sih.gov.in/img1/SIH-Logo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DF39DF9-20D4-F49D-9ED6-32F633F24C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6921" y="2023353"/>
            <a:ext cx="4321913" cy="2514600"/>
          </a:xfrm>
          <a:prstGeom prst="rect">
            <a:avLst/>
          </a:prstGeom>
          <a:effectLst>
            <a:outerShdw blurRad="50800" dist="50800" dir="5400000" sx="104000" sy="104000" algn="ctr" rotWithShape="0">
              <a:schemeClr val="tx1">
                <a:lumMod val="65000"/>
                <a:lumOff val="35000"/>
                <a:alpha val="87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5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04860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048607" name="TextBox 8"/>
          <p:cNvSpPr txBox="1">
            <a:spLocks noChangeArrowheads="1"/>
          </p:cNvSpPr>
          <p:nvPr/>
        </p:nvSpPr>
        <p:spPr bwMode="auto">
          <a:xfrm>
            <a:off x="817123" y="1789946"/>
            <a:ext cx="10544783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System Architecture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       User → AI Chat Interface → NLP/LLM → Weather &amp; Climate APIs → Data Processing → Response &amp; Alerts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Key Technologies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Frontend:</a:t>
            </a:r>
            <a:r>
              <a:rPr lang="en-US" sz="2000" dirty="0"/>
              <a:t> HTML, CSS, JavaScript / React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Backend:</a:t>
            </a:r>
            <a:r>
              <a:rPr lang="en-US" sz="2000" dirty="0"/>
              <a:t> Python + </a:t>
            </a:r>
            <a:r>
              <a:rPr lang="en-US" sz="2000" dirty="0" err="1"/>
              <a:t>FastAPI</a:t>
            </a:r>
            <a:r>
              <a:rPr lang="en-US" sz="2000" dirty="0"/>
              <a:t>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AI/LLM:</a:t>
            </a:r>
            <a:r>
              <a:rPr lang="en-US" sz="2000" dirty="0"/>
              <a:t> Gemini / OpenAI-compatible LLM / open-source LLM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Weather Data:</a:t>
            </a:r>
            <a:r>
              <a:rPr lang="en-US" sz="2000" dirty="0"/>
              <a:t> </a:t>
            </a:r>
            <a:r>
              <a:rPr lang="en-US" sz="2000" dirty="0" err="1"/>
              <a:t>OpenWeatherMap</a:t>
            </a:r>
            <a:r>
              <a:rPr lang="en-US" sz="2000" dirty="0"/>
              <a:t> / </a:t>
            </a:r>
            <a:r>
              <a:rPr lang="en-US" sz="2000" dirty="0" err="1"/>
              <a:t>WeatherAPI</a:t>
            </a:r>
            <a:r>
              <a:rPr lang="en-US" sz="2000" dirty="0"/>
              <a:t> / Government weather datasets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Location:</a:t>
            </a:r>
            <a:r>
              <a:rPr lang="en-US" sz="2000" dirty="0"/>
              <a:t> GPS &amp; Geolocation APIs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Database:</a:t>
            </a:r>
            <a:r>
              <a:rPr lang="en-US" sz="2000" dirty="0"/>
              <a:t> PostgreSQL / MongoDB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Notifications:</a:t>
            </a:r>
            <a:r>
              <a:rPr lang="en-US" sz="2000" dirty="0"/>
              <a:t> Firebase Cloud Messaging / Web Push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Deployment:</a:t>
            </a:r>
            <a:r>
              <a:rPr lang="en-US" sz="2000" dirty="0"/>
              <a:t> Cloud-based deployment using Docker and cloud services</a:t>
            </a:r>
          </a:p>
        </p:txBody>
      </p:sp>
      <p:sp>
        <p:nvSpPr>
          <p:cNvPr id="104860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48609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48610" name="Oval 10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  <a:p>
            <a:pPr algn="ctr"/>
            <a:r>
              <a:rPr lang="en-IN" dirty="0"/>
              <a:t>BWC@</a:t>
            </a:r>
            <a:r>
              <a:rPr lang="en-IN" sz="1400" dirty="0"/>
              <a:t>COGNIXA</a:t>
            </a:r>
          </a:p>
          <a:p>
            <a:pPr algn="ctr"/>
            <a:endParaRPr lang="en-IN" dirty="0"/>
          </a:p>
        </p:txBody>
      </p:sp>
      <p:pic>
        <p:nvPicPr>
          <p:cNvPr id="2097155" name="Picture 2" descr="https://www.sih.gov.in/img1/SIH-Logo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4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04861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048616" name="TextBox 8"/>
          <p:cNvSpPr txBox="1">
            <a:spLocks noChangeArrowheads="1"/>
          </p:cNvSpPr>
          <p:nvPr/>
        </p:nvSpPr>
        <p:spPr bwMode="auto">
          <a:xfrm>
            <a:off x="609600" y="1359451"/>
            <a:ext cx="10972800" cy="50167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Technical Feasibility</a:t>
            </a:r>
          </a:p>
          <a:p>
            <a:r>
              <a:rPr lang="en-US" sz="2000" dirty="0"/>
              <a:t>        </a:t>
            </a:r>
            <a:r>
              <a:rPr lang="en-US" sz="2000" dirty="0" err="1"/>
              <a:t>ClimateChat</a:t>
            </a:r>
            <a:r>
              <a:rPr lang="en-US" sz="2000" dirty="0"/>
              <a:t> can be implemented using existing and reliable technologies such as LLMs, weather APIs, GPS services, cloud computing, and notification systems. 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Scalability</a:t>
            </a:r>
          </a:p>
          <a:p>
            <a:r>
              <a:rPr lang="en-US" sz="2000" dirty="0"/>
              <a:t>       The architecture can support expansion from individual users to:</a:t>
            </a:r>
          </a:p>
          <a:p>
            <a:pPr lvl="0"/>
            <a:r>
              <a:rPr lang="en-US" sz="2000" dirty="0"/>
              <a:t>       Schools and colleges </a:t>
            </a:r>
          </a:p>
          <a:p>
            <a:pPr lvl="0"/>
            <a:r>
              <a:rPr lang="en-US" sz="2000" dirty="0"/>
              <a:t>       Farmers and agricultural communities </a:t>
            </a:r>
          </a:p>
          <a:p>
            <a:pPr lvl="0"/>
            <a:r>
              <a:rPr lang="en-US" sz="2000" dirty="0"/>
              <a:t>       Disaster-management organizations </a:t>
            </a:r>
          </a:p>
          <a:p>
            <a:pPr lvl="0"/>
            <a:r>
              <a:rPr lang="en-US" sz="2000" dirty="0"/>
              <a:t>       Local governments </a:t>
            </a:r>
          </a:p>
          <a:p>
            <a:pPr lvl="0"/>
            <a:r>
              <a:rPr lang="en-US" sz="2000" dirty="0"/>
              <a:t>      Transportation services </a:t>
            </a:r>
          </a:p>
          <a:p>
            <a:pPr lvl="0"/>
            <a:r>
              <a:rPr lang="en-US" sz="2000" dirty="0"/>
              <a:t>      Outdoor-event organizers 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Viability</a:t>
            </a:r>
          </a:p>
          <a:p>
            <a:r>
              <a:rPr lang="en-US" sz="2000" dirty="0"/>
              <a:t>      The increasing requirement for real-time weather information, disaster preparedness, climate awareness, and personalized alerts creates strong potential for </a:t>
            </a:r>
            <a:r>
              <a:rPr lang="en-US" sz="2000" dirty="0" err="1"/>
              <a:t>ClimateChat</a:t>
            </a:r>
            <a:r>
              <a:rPr lang="en-US" sz="2000" dirty="0"/>
              <a:t> as a practical public-service application.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sz="2000" dirty="0"/>
          </a:p>
        </p:txBody>
      </p:sp>
      <p:sp>
        <p:nvSpPr>
          <p:cNvPr id="104861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048618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048619" name="Oval 11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  <a:p>
            <a:pPr algn="ctr"/>
            <a:r>
              <a:rPr lang="en-IN" dirty="0"/>
              <a:t>BWC@</a:t>
            </a:r>
            <a:r>
              <a:rPr lang="en-IN" sz="1400" dirty="0"/>
              <a:t>COGNIXA</a:t>
            </a:r>
          </a:p>
          <a:p>
            <a:pPr algn="ctr"/>
            <a:endParaRPr lang="en-IN" dirty="0"/>
          </a:p>
        </p:txBody>
      </p:sp>
      <p:pic>
        <p:nvPicPr>
          <p:cNvPr id="209715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3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04862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048625" name="TextBox 8"/>
          <p:cNvSpPr txBox="1">
            <a:spLocks noChangeArrowheads="1"/>
          </p:cNvSpPr>
          <p:nvPr/>
        </p:nvSpPr>
        <p:spPr bwMode="auto">
          <a:xfrm>
            <a:off x="609600" y="1319177"/>
            <a:ext cx="7242600" cy="5078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Accurate &amp; Accessible:</a:t>
            </a:r>
            <a:r>
              <a:rPr lang="en-US" sz="2000" dirty="0"/>
              <a:t> Provides simple, location-based weather information.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Early Warnings:</a:t>
            </a:r>
            <a:r>
              <a:rPr lang="en-US" sz="2000" dirty="0"/>
              <a:t> Delivers timely alerts for severe weather and disasters.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Better Decisions:</a:t>
            </a:r>
            <a:r>
              <a:rPr lang="en-US" sz="2000" dirty="0"/>
              <a:t> Supports farming, travel, education, and daily planning.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Climate Awareness:</a:t>
            </a:r>
            <a:r>
              <a:rPr lang="en-US" sz="2000" dirty="0"/>
              <a:t> Converts complex climate data into easy-to-understand insights.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Inclusive Access:</a:t>
            </a:r>
            <a:r>
              <a:rPr lang="en-US" sz="2000" dirty="0"/>
              <a:t> Conversational and multilingual support can reach diverse users.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000" b="1" dirty="0"/>
              <a:t>Disaster Preparedness:</a:t>
            </a:r>
            <a:r>
              <a:rPr lang="en-US" sz="2000" dirty="0"/>
              <a:t> Helps communities respond faster to weather-related risks.</a:t>
            </a:r>
          </a:p>
          <a:p>
            <a:r>
              <a:rPr lang="en-US" sz="2400" b="1" dirty="0"/>
              <a:t>Key Impact:</a:t>
            </a:r>
            <a:endParaRPr lang="en-US" sz="2400" dirty="0"/>
          </a:p>
          <a:p>
            <a:r>
              <a:rPr lang="en-US" sz="2000" b="1" dirty="0"/>
              <a:t>    “Turning complex weather data into simple, actionable information for safer and smarter decisions.”</a:t>
            </a:r>
            <a:endParaRPr lang="en-US" sz="2000" dirty="0"/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sz="2000" dirty="0"/>
          </a:p>
        </p:txBody>
      </p:sp>
      <p:sp>
        <p:nvSpPr>
          <p:cNvPr id="104862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04862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048628" name="Oval 11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  <a:p>
            <a:pPr algn="ctr"/>
            <a:r>
              <a:rPr lang="en-IN" dirty="0"/>
              <a:t>BWC@</a:t>
            </a:r>
            <a:r>
              <a:rPr lang="en-IN" sz="1400" dirty="0"/>
              <a:t>COGNIXA</a:t>
            </a:r>
          </a:p>
          <a:p>
            <a:pPr algn="ctr"/>
            <a:endParaRPr lang="en-IN" dirty="0"/>
          </a:p>
        </p:txBody>
      </p:sp>
      <p:pic>
        <p:nvPicPr>
          <p:cNvPr id="2097157" name="Picture 2" descr="https://www.sih.gov.in/img1/SIH-Logo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85BB246-D7B3-0A3E-F0FA-081585C412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448" y="2007181"/>
            <a:ext cx="3419952" cy="224821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2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04863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048634" name="TextBox 8"/>
          <p:cNvSpPr txBox="1">
            <a:spLocks noChangeArrowheads="1"/>
          </p:cNvSpPr>
          <p:nvPr/>
        </p:nvSpPr>
        <p:spPr bwMode="auto">
          <a:xfrm>
            <a:off x="609600" y="1427347"/>
            <a:ext cx="10655030" cy="4524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400" b="1" dirty="0"/>
              <a:t>IMD</a:t>
            </a:r>
            <a:r>
              <a:rPr lang="en-US" sz="2400" dirty="0"/>
              <a:t> – India Meteorological Department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400" b="1" dirty="0"/>
              <a:t>WMO</a:t>
            </a:r>
            <a:r>
              <a:rPr lang="en-US" sz="2400" dirty="0"/>
              <a:t> – World Meteorological Organization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400" b="1" dirty="0"/>
              <a:t>IPCC</a:t>
            </a:r>
            <a:r>
              <a:rPr lang="en-US" sz="2400" dirty="0"/>
              <a:t> – Climate Change Assessment Reports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400" b="1" dirty="0"/>
              <a:t>NOAA</a:t>
            </a:r>
            <a:r>
              <a:rPr lang="en-US" sz="2400" dirty="0"/>
              <a:t> – Weather &amp; Climate Data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400" b="1" dirty="0"/>
              <a:t>NASA Earth Data</a:t>
            </a:r>
            <a:r>
              <a:rPr lang="en-US" sz="2400" dirty="0"/>
              <a:t> – Environmental &amp; Climate Data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400" b="1" dirty="0" err="1"/>
              <a:t>OpenWeather</a:t>
            </a:r>
            <a:r>
              <a:rPr lang="en-US" sz="2400" b="1" dirty="0"/>
              <a:t> / </a:t>
            </a:r>
            <a:r>
              <a:rPr lang="en-US" sz="2400" b="1" dirty="0" err="1"/>
              <a:t>WeatherAPI</a:t>
            </a:r>
            <a:r>
              <a:rPr lang="en-US" sz="2400" dirty="0"/>
              <a:t> – Real-time Weather APIs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US" sz="2400" b="1" dirty="0"/>
              <a:t>UNDRR</a:t>
            </a:r>
            <a:r>
              <a:rPr lang="en-US" sz="2400" dirty="0"/>
              <a:t> – Disaster Risk Reduction &amp; Early Warning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endParaRPr lang="en-US" sz="2400" dirty="0"/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b="1" dirty="0"/>
              <a:t>Research Gap:</a:t>
            </a:r>
            <a:endParaRPr lang="en-US" sz="2400" dirty="0"/>
          </a:p>
          <a:p>
            <a:r>
              <a:rPr lang="en-US" sz="2400" dirty="0"/>
              <a:t>      Existing platforms provide large amounts of weather data, but </a:t>
            </a:r>
            <a:r>
              <a:rPr lang="en-US" sz="2400" dirty="0" err="1"/>
              <a:t>ClimateChat</a:t>
            </a:r>
            <a:r>
              <a:rPr lang="en-US" sz="2400" dirty="0"/>
              <a:t> focuses on conversational, personalized, and easy-to-understand weather and climate intelligence.</a:t>
            </a:r>
          </a:p>
        </p:txBody>
      </p:sp>
      <p:sp>
        <p:nvSpPr>
          <p:cNvPr id="104863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048636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048637" name="Oval 8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  <a:p>
            <a:pPr algn="ctr"/>
            <a:r>
              <a:rPr lang="en-IN" dirty="0"/>
              <a:t>BWC@</a:t>
            </a:r>
            <a:r>
              <a:rPr lang="en-IN" sz="1400" dirty="0"/>
              <a:t>COGNIXA</a:t>
            </a:r>
          </a:p>
          <a:p>
            <a:pPr algn="ctr"/>
            <a:endParaRPr lang="en-IN" dirty="0"/>
          </a:p>
        </p:txBody>
      </p:sp>
      <p:pic>
        <p:nvPicPr>
          <p:cNvPr id="2097158" name="Picture 2" descr="https://www.sih.gov.in/img1/SIH-Logo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517</Words>
  <Application>Microsoft Office PowerPoint</Application>
  <PresentationFormat>Widescreen</PresentationFormat>
  <Paragraphs>86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2025</vt:lpstr>
      <vt:lpstr> IDEA TITLE</vt:lpstr>
      <vt:lpstr>TECHNICAL APPROACH</vt:lpstr>
      <vt:lpstr>FEASIBILITY AND VIABILITY</vt:lpstr>
      <vt:lpstr>IMPACT AND BENEFITS</vt:lpstr>
      <vt:lpstr>RESEARCH  AND REFERENCES</vt:lpstr>
    </vt:vector>
  </TitlesOfParts>
  <Company>Crowdfunder,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creator>Crowdfunder</dc:creator>
  <cp:lastModifiedBy>Praveen Kumar</cp:lastModifiedBy>
  <cp:revision>1</cp:revision>
  <dcterms:created xsi:type="dcterms:W3CDTF">2013-12-12T07:46:50Z</dcterms:created>
  <dcterms:modified xsi:type="dcterms:W3CDTF">2026-09-08T15:09:27Z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9e7ca4487db3409492b3fc042180b1d4_23</vt:lpwstr>
  </property>
</Properties>
</file>